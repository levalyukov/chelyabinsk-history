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just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just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just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just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just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2286000" algn="just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2743200" algn="just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3200400" algn="just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3657600" algn="just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" name="Shape 6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5" descr="Рисунок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857"/>
            <a:ext cx="12192000" cy="685628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Текст заголовка"/>
          <p:cNvSpPr txBox="1"/>
          <p:nvPr>
            <p:ph type="title"/>
          </p:nvPr>
        </p:nvSpPr>
        <p:spPr>
          <a:xfrm>
            <a:off x="642256" y="1676400"/>
            <a:ext cx="10961915" cy="3211287"/>
          </a:xfrm>
          <a:prstGeom prst="rect">
            <a:avLst/>
          </a:prstGeom>
        </p:spPr>
        <p:txBody>
          <a:bodyPr/>
          <a:lstStyle>
            <a:lvl1pPr algn="ctr">
              <a:defRPr sz="6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/>
          </p:nvPr>
        </p:nvSpPr>
        <p:spPr>
          <a:xfrm>
            <a:off x="642256" y="5094513"/>
            <a:ext cx="10961915" cy="1016727"/>
          </a:xfrm>
          <a:prstGeom prst="rect">
            <a:avLst/>
          </a:prstGeom>
        </p:spPr>
        <p:txBody>
          <a:bodyPr anchor="ctr"/>
          <a:lstStyle>
            <a:lvl1pPr algn="r">
              <a:defRPr sz="2400"/>
            </a:lvl1pPr>
            <a:lvl2pPr marL="0" indent="457200" algn="r">
              <a:buSzTx/>
              <a:buNone/>
              <a:defRPr sz="2400"/>
            </a:lvl2pPr>
            <a:lvl3pPr marL="0" indent="914400" algn="r">
              <a:buSzTx/>
              <a:buNone/>
              <a:defRPr sz="2400"/>
            </a:lvl3pPr>
            <a:lvl4pPr marL="0" indent="1371600" algn="r">
              <a:buSzTx/>
              <a:buNone/>
              <a:defRPr sz="2400"/>
            </a:lvl4pPr>
            <a:lvl5pPr marL="0" indent="1828800" algn="r">
              <a:buSzTx/>
              <a:buNone/>
              <a:defRPr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Уровень текста 1…"/>
          <p:cNvSpPr txBox="1"/>
          <p:nvPr>
            <p:ph type="body" idx="1"/>
          </p:nvPr>
        </p:nvSpPr>
        <p:spPr>
          <a:xfrm>
            <a:off x="536448" y="1463039"/>
            <a:ext cx="11228832" cy="4713925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" name="Текст заголовка"/>
          <p:cNvSpPr txBox="1"/>
          <p:nvPr>
            <p:ph type="title"/>
          </p:nvPr>
        </p:nvSpPr>
        <p:spPr>
          <a:xfrm>
            <a:off x="2292095" y="304800"/>
            <a:ext cx="9473185" cy="927899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Уровень текста 1…"/>
          <p:cNvSpPr txBox="1"/>
          <p:nvPr>
            <p:ph type="body" sz="half" idx="1"/>
          </p:nvPr>
        </p:nvSpPr>
        <p:spPr>
          <a:xfrm>
            <a:off x="451104" y="1545770"/>
            <a:ext cx="5568697" cy="4631194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" name="Текст заголовка"/>
          <p:cNvSpPr txBox="1"/>
          <p:nvPr>
            <p:ph type="title"/>
          </p:nvPr>
        </p:nvSpPr>
        <p:spPr>
          <a:xfrm>
            <a:off x="2292095" y="304800"/>
            <a:ext cx="9473185" cy="927899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0" name="Текст заголовка"/>
          <p:cNvSpPr txBox="1"/>
          <p:nvPr>
            <p:ph type="title"/>
          </p:nvPr>
        </p:nvSpPr>
        <p:spPr>
          <a:xfrm>
            <a:off x="2292095" y="304800"/>
            <a:ext cx="9473185" cy="927899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Уровень текста 1…"/>
          <p:cNvSpPr txBox="1"/>
          <p:nvPr>
            <p:ph type="body" sz="half" idx="1"/>
          </p:nvPr>
        </p:nvSpPr>
        <p:spPr>
          <a:xfrm>
            <a:off x="495300" y="1475232"/>
            <a:ext cx="6172200" cy="466953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5" name="Текст 3"/>
          <p:cNvSpPr/>
          <p:nvPr>
            <p:ph type="body" sz="half" idx="21"/>
          </p:nvPr>
        </p:nvSpPr>
        <p:spPr>
          <a:xfrm>
            <a:off x="6888481" y="1475232"/>
            <a:ext cx="4876801" cy="4669536"/>
          </a:xfrm>
          <a:prstGeom prst="rect">
            <a:avLst/>
          </a:prstGeom>
        </p:spPr>
        <p:txBody>
          <a:bodyPr/>
          <a:lstStyle/>
          <a:p>
            <a:pPr>
              <a:defRPr sz="1800"/>
            </a:pPr>
          </a:p>
        </p:txBody>
      </p:sp>
      <p:sp>
        <p:nvSpPr>
          <p:cNvPr id="5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7" name="Текст заголовка"/>
          <p:cNvSpPr txBox="1"/>
          <p:nvPr>
            <p:ph type="title"/>
          </p:nvPr>
        </p:nvSpPr>
        <p:spPr>
          <a:xfrm>
            <a:off x="2292095" y="304800"/>
            <a:ext cx="9473185" cy="927899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/>
          <p:nvPr>
            <p:ph type="sldNum" sz="quarter" idx="2"/>
          </p:nvPr>
        </p:nvSpPr>
        <p:spPr>
          <a:xfrm>
            <a:off x="11457940" y="6446355"/>
            <a:ext cx="307341" cy="31140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lnSpc>
                <a:spcPct val="100000"/>
              </a:lnSpc>
              <a:defRPr sz="16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" name="Текст заголовка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4" name="Уровень текста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transition xmlns:p14="http://schemas.microsoft.com/office/powerpoint/2010/main" spd="med" advClick="1"/>
  <p:txStyles>
    <p:titleStyle>
      <a:lvl1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0" marR="0" indent="0" algn="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titleStyle>
    <p:bodyStyle>
      <a:lvl1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Заголовок 1"/>
          <p:cNvSpPr txBox="1"/>
          <p:nvPr>
            <p:ph type="title" idx="4294967295"/>
          </p:nvPr>
        </p:nvSpPr>
        <p:spPr>
          <a:xfrm>
            <a:off x="2997271" y="1823243"/>
            <a:ext cx="6197458" cy="3211514"/>
          </a:xfrm>
          <a:prstGeom prst="rect">
            <a:avLst/>
          </a:prstGeom>
        </p:spPr>
        <p:txBody>
          <a:bodyPr/>
          <a:lstStyle/>
          <a:p>
            <a:pPr algn="ctr" defTabSz="649223">
              <a:defRPr b="0" sz="1775"/>
            </a:pPr>
            <a:br/>
            <a:br/>
            <a:r>
              <a:t> СТУДЕНЧЕСКИЙ СТАРТАП </a:t>
            </a:r>
            <a:br/>
            <a:br/>
            <a:r>
              <a:rPr sz="2272"/>
              <a:t>«Экскурсия с доставкой»: </a:t>
            </a:r>
            <a:br>
              <a:rPr sz="2272"/>
            </a:br>
            <a:br>
              <a:rPr sz="2272"/>
            </a:br>
            <a:r>
              <a:rPr sz="2272"/>
              <a:t>Веб</a:t>
            </a:r>
            <a:r>
              <a:rPr sz="2272"/>
              <a:t>-</a:t>
            </a:r>
            <a:r>
              <a:rPr sz="2272"/>
              <a:t>приложение виртуальных экскурсий/интерактивного гида по культурному и повседневному Челябинску</a:t>
            </a:r>
            <a:br>
              <a:rPr sz="2272"/>
            </a:br>
            <a:br>
              <a:rPr sz="2272"/>
            </a:br>
          </a:p>
        </p:txBody>
      </p:sp>
      <p:sp>
        <p:nvSpPr>
          <p:cNvPr id="67" name="Заголовок 9"/>
          <p:cNvSpPr txBox="1"/>
          <p:nvPr/>
        </p:nvSpPr>
        <p:spPr>
          <a:xfrm>
            <a:off x="1569719" y="6423240"/>
            <a:ext cx="9052561" cy="366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>
            <a:lvl1pPr algn="ctr">
              <a:lnSpc>
                <a:spcPct val="90000"/>
              </a:lnSpc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Челябинск,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Номер слайда 1"/>
          <p:cNvSpPr txBox="1"/>
          <p:nvPr>
            <p:ph type="sldNum" sz="quarter" idx="2"/>
          </p:nvPr>
        </p:nvSpPr>
        <p:spPr>
          <a:xfrm>
            <a:off x="11559540" y="6446355"/>
            <a:ext cx="205741" cy="3114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0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4582" y="858216"/>
            <a:ext cx="3659465" cy="2087007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Прямоугольник 3"/>
          <p:cNvSpPr txBox="1"/>
          <p:nvPr/>
        </p:nvSpPr>
        <p:spPr>
          <a:xfrm>
            <a:off x="4712249" y="844440"/>
            <a:ext cx="6985001" cy="1833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0000"/>
              </a:lnSpc>
            </a:lvl1pPr>
          </a:lstStyle>
          <a:p>
            <a:pPr/>
            <a:r>
              <a:t>Почетное звание «Культурная столица города» ежегодно присуждается одному из городов Российской Федерации. Принять участие в Конкурсе могут инициативные команды, представляющие города-административные центры субъектов Российской Федерации, а также любые города или агломерации с населением не менее 200 тысяч человек.</a:t>
            </a:r>
          </a:p>
        </p:txBody>
      </p:sp>
      <p:sp>
        <p:nvSpPr>
          <p:cNvPr id="72" name="Прямоугольник 4"/>
          <p:cNvSpPr txBox="1"/>
          <p:nvPr/>
        </p:nvSpPr>
        <p:spPr>
          <a:xfrm>
            <a:off x="3093720" y="3228513"/>
            <a:ext cx="6004560" cy="329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00000"/>
              </a:lnSpc>
            </a:pPr>
            <a:r>
              <a:t>Вместе с тем сегодня Челябинск занимает только третье место в рейтинге, существенно уступая лидеру голосования (Новосибирск). Вот конкретные цифры по пяти лидерам:</a:t>
            </a:r>
            <a:br/>
          </a:p>
          <a:p>
            <a:pPr algn="ctr">
              <a:lnSpc>
                <a:spcPct val="100000"/>
              </a:lnSpc>
            </a:pPr>
            <a:r>
              <a:t>1 место – Новосибирск, 98 463 голосов или 14,90 % от общего числа проголосовавших;</a:t>
            </a:r>
            <a:br/>
            <a:r>
              <a:t>2 место – Вологда, 77 655 голосов, 11,75%;</a:t>
            </a:r>
            <a:br/>
            <a:r>
              <a:t>3 место – Челябинск, 77 330 голосов, 11,70%;</a:t>
            </a:r>
            <a:br/>
            <a:r>
              <a:t>4 место – Ставрополь, 69 541 голосов, 10,52%;</a:t>
            </a:r>
            <a:br/>
            <a:r>
              <a:t>5 место – Сочи, 44 220 голосов, 6,69%.</a:t>
            </a:r>
          </a:p>
        </p:txBody>
      </p:sp>
      <p:sp>
        <p:nvSpPr>
          <p:cNvPr id="73" name="Заголовок 2"/>
          <p:cNvSpPr txBox="1"/>
          <p:nvPr/>
        </p:nvSpPr>
        <p:spPr>
          <a:xfrm>
            <a:off x="1654960" y="197628"/>
            <a:ext cx="8882079" cy="134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sz="2200"/>
            </a:lvl1pPr>
          </a:lstStyle>
          <a:p>
            <a:pPr/>
            <a:r>
              <a:t>КУЛЬТУРНАЯ СТОЛИЦА ГОДА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Номер слайда 1"/>
          <p:cNvSpPr txBox="1"/>
          <p:nvPr>
            <p:ph type="sldNum" sz="quarter" idx="2"/>
          </p:nvPr>
        </p:nvSpPr>
        <p:spPr>
          <a:xfrm>
            <a:off x="11559540" y="6446355"/>
            <a:ext cx="205741" cy="3114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6049" y="809989"/>
            <a:ext cx="4779392" cy="4779392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Прямоугольник 7"/>
          <p:cNvSpPr txBox="1"/>
          <p:nvPr/>
        </p:nvSpPr>
        <p:spPr>
          <a:xfrm>
            <a:off x="5430821" y="808156"/>
            <a:ext cx="6350001" cy="2417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0000"/>
              </a:lnSpc>
            </a:pPr>
            <a:r>
              <a:t>В опросе были предложены различные варианты ассоциаций, среди которых: «город лесов и озёр», «метеорит», «ЧТЗ — Танкоград», «город, который смог», «верблюд», «стальное сердце России», «суровый город», хоккейный клуб «Трактор» и другие. 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  <a:r>
              <a:t>На момент 13 ноября 2025 года в опросе приняло участие 11 936 человек. </a:t>
            </a:r>
          </a:p>
        </p:txBody>
      </p:sp>
      <p:sp>
        <p:nvSpPr>
          <p:cNvPr id="78" name="TextBox 5"/>
          <p:cNvSpPr txBox="1"/>
          <p:nvPr/>
        </p:nvSpPr>
        <p:spPr>
          <a:xfrm>
            <a:off x="5387764" y="3541314"/>
            <a:ext cx="6350001" cy="124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l">
              <a:lnSpc>
                <a:spcPct val="100000"/>
              </a:lnSpc>
            </a:pPr>
            <a:r>
              <a:t>Насколько о культурном и повседневном Челябинске знает современная молодежь?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t>// Опрос //</a:t>
            </a:r>
          </a:p>
        </p:txBody>
      </p:sp>
      <p:sp>
        <p:nvSpPr>
          <p:cNvPr id="79" name="Заголовок 2"/>
          <p:cNvSpPr txBox="1"/>
          <p:nvPr/>
        </p:nvSpPr>
        <p:spPr>
          <a:xfrm>
            <a:off x="1654960" y="197628"/>
            <a:ext cx="8882079" cy="115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ctr">
              <a:lnSpc>
                <a:spcPct val="90000"/>
              </a:lnSpc>
              <a:defRPr sz="2200"/>
            </a:pPr>
            <a:r>
              <a:t>ИДЕЯ ПРОЕКТА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Номер слайда 1"/>
          <p:cNvSpPr txBox="1"/>
          <p:nvPr>
            <p:ph type="sldNum" sz="quarter" idx="2"/>
          </p:nvPr>
        </p:nvSpPr>
        <p:spPr>
          <a:xfrm>
            <a:off x="11559540" y="6446355"/>
            <a:ext cx="205741" cy="3114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2" name="Прямоугольник 10"/>
          <p:cNvSpPr txBox="1"/>
          <p:nvPr/>
        </p:nvSpPr>
        <p:spPr>
          <a:xfrm>
            <a:off x="380999" y="893448"/>
            <a:ext cx="11430001" cy="956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0000"/>
              </a:lnSpc>
              <a:defRPr u="sng"/>
            </a:pPr>
            <a:r>
              <a:t>Практическая значимость</a:t>
            </a:r>
            <a:r>
              <a:rPr u="none"/>
              <a:t>: Студенческий стартап «Экскурсия с доставкой»: направлен на привлечение населения страны к культурной жизни нашего города. Изучение истории и культуры города школьниками и студентами. </a:t>
            </a:r>
          </a:p>
        </p:txBody>
      </p:sp>
      <p:sp>
        <p:nvSpPr>
          <p:cNvPr id="83" name="Прямоугольник 12"/>
          <p:cNvSpPr txBox="1"/>
          <p:nvPr/>
        </p:nvSpPr>
        <p:spPr>
          <a:xfrm>
            <a:off x="380999" y="3271035"/>
            <a:ext cx="11430001" cy="66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0000"/>
              </a:lnSpc>
              <a:defRPr u="sng"/>
            </a:pPr>
            <a:r>
              <a:t>Цель проекта / стартапа</a:t>
            </a:r>
            <a:r>
              <a:rPr u="none"/>
              <a:t>: Создание </a:t>
            </a:r>
            <a:r>
              <a:rPr u="none"/>
              <a:t>веб-</a:t>
            </a:r>
            <a:r>
              <a:rPr u="none"/>
              <a:t>приложение виртуальных экскурсий/интерактивного гида по культурному и повседневному Челябинску.</a:t>
            </a:r>
          </a:p>
        </p:txBody>
      </p:sp>
      <p:sp>
        <p:nvSpPr>
          <p:cNvPr id="84" name="Текстовое поле 3"/>
          <p:cNvSpPr txBox="1"/>
          <p:nvPr/>
        </p:nvSpPr>
        <p:spPr>
          <a:xfrm>
            <a:off x="380999" y="2251438"/>
            <a:ext cx="11430001" cy="66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0000"/>
              </a:lnSpc>
              <a:defRPr u="sng"/>
            </a:pPr>
            <a:r>
              <a:t>Новизна</a:t>
            </a:r>
            <a:r>
              <a:rPr u="none"/>
              <a:t>: популяризация истории Челябинска (культурного и повседневного города) для жителей, отечественных и иностранных гостей в интерактивной и доступной форме. </a:t>
            </a:r>
          </a:p>
        </p:txBody>
      </p:sp>
      <p:sp>
        <p:nvSpPr>
          <p:cNvPr id="85" name="Заголовок 2"/>
          <p:cNvSpPr txBox="1"/>
          <p:nvPr/>
        </p:nvSpPr>
        <p:spPr>
          <a:xfrm>
            <a:off x="1654960" y="197628"/>
            <a:ext cx="8882079" cy="134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ctr">
              <a:lnSpc>
                <a:spcPct val="90000"/>
              </a:lnSpc>
              <a:defRPr sz="2200"/>
            </a:pPr>
            <a:r>
              <a:t>ИДЕЯ ПРОЕКТА</a:t>
            </a:r>
            <a:br/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Номер слайда 1"/>
          <p:cNvSpPr txBox="1"/>
          <p:nvPr>
            <p:ph type="sldNum" sz="quarter" idx="2"/>
          </p:nvPr>
        </p:nvSpPr>
        <p:spPr>
          <a:xfrm>
            <a:off x="11559540" y="6446355"/>
            <a:ext cx="205741" cy="3114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8" name="Заголовок 2"/>
          <p:cNvSpPr txBox="1"/>
          <p:nvPr/>
        </p:nvSpPr>
        <p:spPr>
          <a:xfrm>
            <a:off x="1654960" y="197628"/>
            <a:ext cx="8882079" cy="134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ctr">
              <a:lnSpc>
                <a:spcPct val="90000"/>
              </a:lnSpc>
              <a:defRPr sz="2200"/>
            </a:pPr>
            <a:r>
              <a:t>ИДЕЯ ПРОЕКТА</a:t>
            </a:r>
            <a:br/>
            <a:br/>
          </a:p>
        </p:txBody>
      </p:sp>
      <p:sp>
        <p:nvSpPr>
          <p:cNvPr id="89" name="Прямоугольник 2"/>
          <p:cNvSpPr txBox="1"/>
          <p:nvPr/>
        </p:nvSpPr>
        <p:spPr>
          <a:xfrm>
            <a:off x="381000" y="4513927"/>
            <a:ext cx="11430001" cy="1833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>
              <a:lnSpc>
                <a:spcPct val="100000"/>
              </a:lnSpc>
            </a:pPr>
            <a:r>
              <a:t>Ожидаемые результаты / перспективы: </a:t>
            </a:r>
          </a:p>
          <a:p>
            <a:pPr lvl="1" marL="969210" indent="-334210">
              <a:lnSpc>
                <a:spcPct val="100000"/>
              </a:lnSpc>
              <a:buSzPct val="100000"/>
              <a:buAutoNum type="arabicParenR" startAt="1"/>
            </a:pPr>
            <a:r>
              <a:t>Создание </a:t>
            </a:r>
            <a:r>
              <a:t>веб-</a:t>
            </a:r>
            <a:r>
              <a:t>приложения (сайт)</a:t>
            </a:r>
          </a:p>
          <a:p>
            <a:pPr lvl="1" marL="969210" indent="-334210">
              <a:lnSpc>
                <a:spcPct val="100000"/>
              </a:lnSpc>
              <a:buSzPct val="100000"/>
              <a:buAutoNum type="arabicParenR" startAt="1"/>
            </a:pPr>
            <a:r>
              <a:t>Привлечение публики / потенциального адресата</a:t>
            </a:r>
          </a:p>
          <a:p>
            <a:pPr lvl="1" marL="969210" indent="-334210">
              <a:lnSpc>
                <a:spcPct val="100000"/>
              </a:lnSpc>
              <a:buSzPct val="100000"/>
              <a:buAutoNum type="arabicParenR" startAt="1"/>
            </a:pPr>
            <a:r>
              <a:t>Популяризация истории и культуры города среди жителей, отечественных и иностранных гостей. Доступность языков – русский, английский, китайский.</a:t>
            </a:r>
          </a:p>
          <a:p>
            <a:pPr>
              <a:lnSpc>
                <a:spcPct val="100000"/>
              </a:lnSpc>
            </a:pPr>
            <a:r>
              <a:t> </a:t>
            </a:r>
          </a:p>
        </p:txBody>
      </p:sp>
      <p:sp>
        <p:nvSpPr>
          <p:cNvPr id="90" name="Прямоугольник 2"/>
          <p:cNvSpPr txBox="1"/>
          <p:nvPr/>
        </p:nvSpPr>
        <p:spPr>
          <a:xfrm>
            <a:off x="381000" y="621772"/>
            <a:ext cx="11430001" cy="329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>
              <a:lnSpc>
                <a:spcPct val="100000"/>
              </a:lnSpc>
            </a:pPr>
            <a:r>
              <a:t>Задачи:</a:t>
            </a:r>
          </a:p>
          <a:p>
            <a:pPr lvl="1" marL="969210" indent="-334210">
              <a:lnSpc>
                <a:spcPct val="100000"/>
              </a:lnSpc>
              <a:buSzPct val="100000"/>
              <a:buAutoNum type="arabicParenR" startAt="1"/>
            </a:pPr>
            <a:r>
              <a:t>Изучить и проанализировать опыт создания приложений экскурсионного направления (Москва, Санкт-Петербург и т.д. (напр.:GUIDE ATLAS | Экскурсии с доставкой </a:t>
            </a:r>
            <a:br/>
            <a:r>
              <a:t>• Петербург </a:t>
            </a:r>
            <a:r>
              <a:t>https://vk.com/guideatlas</a:t>
            </a:r>
            <a:r>
              <a:t>);</a:t>
            </a:r>
          </a:p>
          <a:p>
            <a:pPr lvl="1" marL="969210" indent="-334210">
              <a:lnSpc>
                <a:spcPct val="100000"/>
              </a:lnSpc>
              <a:buSzPct val="100000"/>
              <a:buAutoNum type="arabicParenR" startAt="1"/>
            </a:pPr>
            <a:r>
              <a:t>Разработать алгоритм создания </a:t>
            </a:r>
            <a:r>
              <a:t>веб-</a:t>
            </a:r>
            <a:r>
              <a:t>приложения «Экскурсия с доставкой»;</a:t>
            </a:r>
          </a:p>
          <a:p>
            <a:pPr lvl="1" marL="969210" indent="-334210">
              <a:lnSpc>
                <a:spcPct val="100000"/>
              </a:lnSpc>
              <a:buSzPct val="100000"/>
              <a:buAutoNum type="arabicParenR" startAt="1"/>
            </a:pPr>
            <a:r>
              <a:t>Разработать макет и сформулировать структуру </a:t>
            </a:r>
            <a:r>
              <a:t>веб-</a:t>
            </a:r>
            <a:r>
              <a:t>приложения;</a:t>
            </a:r>
          </a:p>
          <a:p>
            <a:pPr lvl="1" marL="969210" indent="-334210">
              <a:lnSpc>
                <a:spcPct val="100000"/>
              </a:lnSpc>
              <a:buSzPct val="100000"/>
              <a:buAutoNum type="arabicParenR" startAt="1"/>
            </a:pPr>
            <a:r>
              <a:t>Изучить, проанализировать и выбрать наиболее интересный культурно-исторический материал для сюжетов интерактивного гида;</a:t>
            </a:r>
          </a:p>
          <a:p>
            <a:pPr lvl="1" marL="969210" indent="-334210">
              <a:lnSpc>
                <a:spcPct val="100000"/>
              </a:lnSpc>
              <a:buSzPct val="100000"/>
              <a:buAutoNum type="arabicParenR" startAt="1"/>
            </a:pPr>
            <a:r>
              <a:t>Продумать цикл интерактивных игр, квестов, викторин и т.п., связанных с культурно-историческим пространством Челябинска;</a:t>
            </a:r>
          </a:p>
          <a:p>
            <a:pPr lvl="1" marL="969210" indent="-334210">
              <a:lnSpc>
                <a:spcPct val="100000"/>
              </a:lnSpc>
              <a:buSzPct val="100000"/>
              <a:buAutoNum type="arabicParenR" startAt="1"/>
            </a:pPr>
            <a:r>
              <a:t>Разработать апробировать виртуальную экскурсию по Челябинску.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Номер слайда 1"/>
          <p:cNvSpPr txBox="1"/>
          <p:nvPr>
            <p:ph type="sldNum" sz="quarter" idx="2"/>
          </p:nvPr>
        </p:nvSpPr>
        <p:spPr>
          <a:xfrm>
            <a:off x="11559540" y="6446355"/>
            <a:ext cx="205741" cy="3114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3" name="Предпроектная подготовка…"/>
          <p:cNvSpPr txBox="1"/>
          <p:nvPr/>
        </p:nvSpPr>
        <p:spPr>
          <a:xfrm>
            <a:off x="381000" y="712776"/>
            <a:ext cx="11430000" cy="5415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40631" indent="-240631" algn="l">
              <a:lnSpc>
                <a:spcPct val="100000"/>
              </a:lnSpc>
              <a:buSzPct val="100000"/>
              <a:buAutoNum type="arabicPeriod" startAt="1"/>
              <a:defRPr sz="1800"/>
            </a:pPr>
            <a:r>
              <a:t>Предпроектная подготовка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Изучить современные цифровые продукты на платформах Pinterest, Behance, Dribbble для </a:t>
            </a:r>
            <a:br/>
            <a:r>
              <a:t>формирования эстетики интерфейса;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Разработать логотип и фирменного стиля в Adobe Illustrator, Figma;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Выбор технологического стека (React, TypeScript, Node.js) и проектирования архитектуры приложения.</a:t>
            </a:r>
          </a:p>
          <a:p>
            <a:pPr algn="l">
              <a:lnSpc>
                <a:spcPct val="100000"/>
              </a:lnSpc>
              <a:defRPr sz="1800"/>
            </a:pPr>
          </a:p>
          <a:p>
            <a:pPr marL="240631" indent="-240631" algn="l">
              <a:lnSpc>
                <a:spcPct val="100000"/>
              </a:lnSpc>
              <a:buSzPct val="100000"/>
              <a:buAutoNum type="arabicPeriod" startAt="2"/>
              <a:defRPr sz="1800"/>
            </a:pPr>
            <a:r>
              <a:t>Разработка ядра приложения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Построение пользовательских компонентов на React с использованием TypeScript;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Разработка backend-модулей на Node.js для обработки данных и бизнес-логики;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Объединение клиентской и серверной частей в единую систему.</a:t>
            </a:r>
          </a:p>
          <a:p>
            <a:pPr algn="l">
              <a:lnSpc>
                <a:spcPct val="100000"/>
              </a:lnSpc>
              <a:defRPr sz="1800"/>
            </a:pPr>
          </a:p>
          <a:p>
            <a:pPr marL="240631" indent="-240631" algn="l">
              <a:lnSpc>
                <a:spcPct val="100000"/>
              </a:lnSpc>
              <a:buSzPct val="100000"/>
              <a:buAutoNum type="arabicPeriod" startAt="3"/>
              <a:defRPr sz="1800"/>
            </a:pPr>
            <a:r>
              <a:t>Обеспечение качества и надежности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Создание автоматических тестов для проверки корректности работы каждого компонента системы;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Описание архитектуры, API и руководств для разработчиков и пользователей.</a:t>
            </a:r>
          </a:p>
          <a:p>
            <a:pPr algn="l">
              <a:lnSpc>
                <a:spcPct val="100000"/>
              </a:lnSpc>
              <a:defRPr sz="1800"/>
            </a:pPr>
          </a:p>
          <a:p>
            <a:pPr marL="240631" indent="-240631" algn="l">
              <a:lnSpc>
                <a:spcPct val="100000"/>
              </a:lnSpc>
              <a:buSzPct val="100000"/>
              <a:buAutoNum type="arabicPeriod" startAt="4"/>
              <a:defRPr sz="1800"/>
            </a:pPr>
            <a:r>
              <a:t>Публикация и сопровождение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Регистрация уникального сетевого адреса проекта;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Настройка сервера (Ubuntu Server) и веб-сервера Nginx для публикации приложения;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Настройка CI/CD-пайплайнов для автоматического обновления приложения;</a:t>
            </a:r>
          </a:p>
          <a:p>
            <a:pPr lvl="1" marL="561473" indent="-180473" algn="l">
              <a:lnSpc>
                <a:spcPct val="100000"/>
              </a:lnSpc>
              <a:buSzPct val="100000"/>
              <a:buChar char="-"/>
              <a:defRPr sz="1800"/>
            </a:pPr>
            <a:r>
              <a:t>Обеспечение стабильной работы системы в производственной среде.</a:t>
            </a:r>
          </a:p>
        </p:txBody>
      </p:sp>
      <p:sp>
        <p:nvSpPr>
          <p:cNvPr id="94" name="Заголовок 2"/>
          <p:cNvSpPr txBox="1"/>
          <p:nvPr/>
        </p:nvSpPr>
        <p:spPr>
          <a:xfrm>
            <a:off x="1654960" y="197628"/>
            <a:ext cx="8882079" cy="115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sz="2200"/>
            </a:lvl1pPr>
          </a:lstStyle>
          <a:p>
            <a:pPr/>
            <a:r>
              <a:t>АЛГОРИТМ СОЗДАНИЯ ВЕБ-ПРИЛОЖЕНИЯ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Номер слайда 1"/>
          <p:cNvSpPr txBox="1"/>
          <p:nvPr>
            <p:ph type="sldNum" sz="quarter" idx="2"/>
          </p:nvPr>
        </p:nvSpPr>
        <p:spPr>
          <a:xfrm>
            <a:off x="11559540" y="6446355"/>
            <a:ext cx="205741" cy="3114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7" name="Заголовок 2"/>
          <p:cNvSpPr txBox="1"/>
          <p:nvPr/>
        </p:nvSpPr>
        <p:spPr>
          <a:xfrm>
            <a:off x="1654960" y="197628"/>
            <a:ext cx="8882079" cy="115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algn="ctr">
              <a:lnSpc>
                <a:spcPct val="90000"/>
              </a:lnSpc>
              <a:defRPr sz="2200"/>
            </a:lvl1pPr>
          </a:lstStyle>
          <a:p>
            <a:pPr/>
            <a:r>
              <a:t>ЭКСКУРСИИ С ДОСТАВКОЙ: ТОЧКА ИНТЕРЕСА № 1.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Номер слайда 1"/>
          <p:cNvSpPr txBox="1"/>
          <p:nvPr>
            <p:ph type="sldNum" sz="quarter" idx="2"/>
          </p:nvPr>
        </p:nvSpPr>
        <p:spPr>
          <a:xfrm>
            <a:off x="11559540" y="6446355"/>
            <a:ext cx="205741" cy="3114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0" name="Заголовок 2"/>
          <p:cNvSpPr txBox="1"/>
          <p:nvPr/>
        </p:nvSpPr>
        <p:spPr>
          <a:xfrm>
            <a:off x="1654960" y="197628"/>
            <a:ext cx="8882079" cy="115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ctr" defTabSz="886968">
              <a:lnSpc>
                <a:spcPct val="90000"/>
              </a:lnSpc>
              <a:defRPr sz="2619"/>
            </a:pPr>
            <a:br/>
            <a:br/>
          </a:p>
        </p:txBody>
      </p:sp>
      <p:sp>
        <p:nvSpPr>
          <p:cNvPr id="101" name="Прямоугольник 2"/>
          <p:cNvSpPr txBox="1"/>
          <p:nvPr/>
        </p:nvSpPr>
        <p:spPr>
          <a:xfrm>
            <a:off x="380999" y="197629"/>
            <a:ext cx="11430001" cy="304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i="1" sz="2800"/>
            </a:pPr>
          </a:p>
          <a:p>
            <a:pPr algn="ctr">
              <a:defRPr sz="2400"/>
            </a:pPr>
            <a:r>
              <a:t>Фокус-группа</a:t>
            </a:r>
          </a:p>
          <a:p>
            <a:pPr>
              <a:defRPr sz="2800"/>
            </a:pPr>
          </a:p>
          <a:p>
            <a:pPr marL="311727" indent="-311727">
              <a:lnSpc>
                <a:spcPct val="150000"/>
              </a:lnSpc>
              <a:buSzPct val="100000"/>
              <a:buChar char="❑"/>
            </a:pPr>
            <a:r>
              <a:t>Руководитель проекта – Кравченко Елена Владимировна, Надеждина Ольга Аркадьевна</a:t>
            </a:r>
          </a:p>
          <a:p>
            <a:pPr marL="311727" indent="-311727">
              <a:lnSpc>
                <a:spcPct val="150000"/>
              </a:lnSpc>
              <a:buSzPct val="100000"/>
              <a:buChar char="❑"/>
            </a:pPr>
            <a:r>
              <a:t>Программисты – Алюков Лев Алексеевич </a:t>
            </a:r>
          </a:p>
          <a:p>
            <a:pPr marL="311727" indent="-311727">
              <a:lnSpc>
                <a:spcPct val="150000"/>
              </a:lnSpc>
              <a:buSzPct val="100000"/>
              <a:buChar char="❑"/>
            </a:pPr>
            <a:r>
              <a:t>Модератор – Храмцов Лев Сергеевич </a:t>
            </a:r>
          </a:p>
          <a:p>
            <a:pPr marL="311727" indent="-311727">
              <a:lnSpc>
                <a:spcPct val="150000"/>
              </a:lnSpc>
              <a:buSzPct val="100000"/>
              <a:buChar char="❑"/>
            </a:pPr>
            <a:r>
              <a:t>Гиды / Экскурсоводы – Закиров Дмитрий Владиславович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just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just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